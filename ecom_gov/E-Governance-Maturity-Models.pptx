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Overview: how e-governance evolves stage by stage, and how each stage advances good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maturity is about institutional change, not just adopting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Widely used frameworks: UN e-Government Survey, Gartner, Layne &amp; Lee. Names differ; logic is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shift in the citizen's role — from reader to partner — as the clearest marker of maturity.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governance is the outcome; e-governance models are the instrument.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students where their own country's services sit on the ladder.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120640" cy="51206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3108960" cy="310896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 in E-Governance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Maturity Models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Maturity Levels  •  Their Characteristics  •  Pathway to Good Governance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 of E-Governance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paperwork to platforms: four broad waves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computerisation; records digitised, processes unchanged.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01568" y="169164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EAF2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0168" y="19202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630168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44568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30168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Presence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30168" y="33832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websites publish information one-way to citizens.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54496" y="169164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83096" y="19202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83096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97496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83096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Delivery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83096" y="33832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forms, payments and licences; citizen as service user.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07424" y="169164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EAF2F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36024" y="19202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9336024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250424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36024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&amp; Smart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336024" y="33832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Data-sharing, mobile, AI and analytics; citizen as co-producer.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wave deepens integration — technology alone does not advance maturity; process and policy reform must follow.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Maturity Levels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staircase model — each level assumes the one below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5349240"/>
            <a:ext cx="3840480" cy="676656"/>
          </a:xfrm>
          <a:prstGeom prst="roundRect">
            <a:avLst>
              <a:gd name="adj" fmla="val 10811"/>
            </a:avLst>
          </a:prstGeom>
          <a:solidFill>
            <a:srgbClr val="1C7293">
              <a:alpha val="40000"/>
            </a:srgbClr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534924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534924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Presence / Emerging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34840" y="5349240"/>
            <a:ext cx="91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published online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4562856"/>
            <a:ext cx="5349240" cy="676656"/>
          </a:xfrm>
          <a:prstGeom prst="roundRect">
            <a:avLst>
              <a:gd name="adj" fmla="val 10811"/>
            </a:avLst>
          </a:prstGeom>
          <a:solidFill>
            <a:srgbClr val="1C7293">
              <a:alpha val="52000"/>
            </a:srgbClr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56285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4562856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34840" y="4562856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contact: forms, e-mail, search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776472"/>
            <a:ext cx="6858000" cy="676656"/>
          </a:xfrm>
          <a:prstGeom prst="roundRect">
            <a:avLst>
              <a:gd name="adj" fmla="val 10811"/>
            </a:avLst>
          </a:prstGeom>
          <a:solidFill>
            <a:srgbClr val="1C7293">
              <a:alpha val="64000"/>
            </a:srgbClr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77647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377647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34840" y="3776472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services and payments online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2990088"/>
            <a:ext cx="8366760" cy="676656"/>
          </a:xfrm>
          <a:prstGeom prst="roundRect">
            <a:avLst>
              <a:gd name="adj" fmla="val 10811"/>
            </a:avLst>
          </a:prstGeom>
          <a:solidFill>
            <a:srgbClr val="1C7293">
              <a:alpha val="76000"/>
            </a:srgbClr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990088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2990088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34840" y="2990088"/>
            <a:ext cx="4617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Integrated, one-stop, re-engineered government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2203704"/>
            <a:ext cx="9875520" cy="676656"/>
          </a:xfrm>
          <a:prstGeom prst="roundRect">
            <a:avLst>
              <a:gd name="adj" fmla="val 10811"/>
            </a:avLst>
          </a:prstGeom>
          <a:solidFill>
            <a:srgbClr val="02C39A">
              <a:alpha val="88000"/>
            </a:srgbClr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220370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2203704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Connected / e-Democracy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34840" y="2203704"/>
            <a:ext cx="6126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Participation, co-creation, seamless whole-of-government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607040" y="28346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rises →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Characteristics of Each Level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as government climbs the ladder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754880"/>
                <a:gridCol w="2194560"/>
                <a:gridCol w="1828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Citizen's 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Presence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pages, notices, downloadable forms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 reader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Interaction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Search, e-mail, feedback, form submission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Enquirer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Transaction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login, e-payment, status tracking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Transformation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 + horizontal integration, one-stop portal, shared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Single-window user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Connected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data, e-participation, mobile &amp; AI services, whole-of-government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/ co-creator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Towards Good Governance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maturity translates into governance value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EAF2F4"/>
          </a:solidFill>
          <a:ln w="12700">
            <a:solidFill>
              <a:srgbClr val="D3E2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8562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budgets, decisions and open data reduce information asymmetry.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79392" y="16002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EAF2F4"/>
          </a:solidFill>
          <a:ln w="12700">
            <a:solidFill>
              <a:srgbClr val="D3E2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7992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48072" y="18562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Accountability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07992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audit trails and grievance tracking make officials answerable.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10144" y="16002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EAF2F4"/>
          </a:solidFill>
          <a:ln w="12700">
            <a:solidFill>
              <a:srgbClr val="D3E2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38744" y="1828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38744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78824" y="18562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38744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E-consultation and feedback loops bring citizens into decision-making.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EAF2F4"/>
          </a:solidFill>
          <a:ln w="12700">
            <a:solidFill>
              <a:srgbClr val="D3E2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0507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77240" y="4663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Re-engineered, integrated processes cut cost, delay and duplication.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79392" y="37947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EAF2F4"/>
          </a:solidFill>
          <a:ln w="12700">
            <a:solidFill>
              <a:srgbClr val="D3E2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07992" y="4023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507992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48072" y="40507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Equity &amp; Access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507992" y="4663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and local-language delivery reaches remote and poorer citizens.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10144" y="37947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EAF2F4"/>
          </a:solidFill>
          <a:ln w="12700">
            <a:solidFill>
              <a:srgbClr val="D3E2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38744" y="4023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238744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78824" y="40507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of Law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238744" y="46634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Standardised, rule-based systems limit discretion and corruption.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657600"/>
            <a:ext cx="4754880" cy="47548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8288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models describe a progression, not a technology checklist.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6517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6060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1–3 digitise services; the real gains begin at Levels 4–5.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34290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3832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stalls without process re-engineering, data sharing and legal backing.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42062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41605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divide, capacity and cyber-security are the main barriers to climbing.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49834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49377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governance is the test of success — not the number of portals launched.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2026-07-30T02:42:36Z</dcterms:created>
  <dcterms:modified xsi:type="dcterms:W3CDTF">2026-07-30T02:42:36Z</dcterms:modified>
</cp:coreProperties>
</file>